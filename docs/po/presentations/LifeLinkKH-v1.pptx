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Open with the problem, not the product. One line: "Right now, when a Cambodian hospital</a:t>
            </a:r>
          </a:p>
          <a:p>
            <a:r>
              <a:t>needs blood urgently, someone writes a Facebook post and hopes the right person scrolls</a:t>
            </a:r>
          </a:p>
          <a:p>
            <a:r>
              <a:t>past." Then move on — slide 2 does the work.</a:t>
            </a:r>
          </a:p>
          <a:p/>
          <a:p>
            <a:r>
              <a:t>Do not read the team list aloud; it is on the slide and slide 12 covers roles.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is the slide that earns attention. Stay concrete and do not inflate it.</a:t>
            </a:r>
          </a:p>
          <a:p/>
          <a:p>
            <a:r>
              <a:t>Say: the current process is not a bad app, it is no app. It is a social media post and</a:t>
            </a:r>
          </a:p>
          <a:p>
            <a:r>
              <a:t>hope. Reach without targeting is not reach — most people who see the post have the wrong</a:t>
            </a:r>
          </a:p>
          <a:p>
            <a:r>
              <a:t>blood type or are in the wrong city, and the people who could actually help never see it.</a:t>
            </a:r>
          </a:p>
          <a:p/>
          <a:p>
            <a:r>
              <a:t>If asked for national statistics: we have not sourced verified figures yet, and we would</a:t>
            </a:r>
          </a:p>
          <a:p>
            <a:r>
              <a:t>rather present none than present numbers we cannot cite. The problem statement comes from</a:t>
            </a:r>
          </a:p>
          <a:p>
            <a:r>
              <a:t>how hospitals currently operate, which is observable without a statistic.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assignment asks for a target user. Ours is the Donor — everything else exists to serve</a:t>
            </a:r>
          </a:p>
          <a:p>
            <a:r>
              <a:t>that person's decision to help.</a:t>
            </a:r>
          </a:p>
          <a:p/>
          <a:p>
            <a:r>
              <a:t>Emphasise the split: donors and families are on the phone because emergencies happen away</a:t>
            </a:r>
          </a:p>
          <a:p>
            <a:r>
              <a:t>from a desk. Hospital staff are on the web because they work at a desk with a browser. That</a:t>
            </a:r>
          </a:p>
          <a:p>
            <a:r>
              <a:t>split is why the project has two clients, which slide 6 explains.</a:t>
            </a:r>
          </a:p>
          <a:p/>
          <a:p>
            <a:r>
              <a:t>The four roles come from the PRD, section 3. Do not invent a fifth on the spot.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Exactly three features, as the assignment requires. Say the numbers out loud — "one, two,</a:t>
            </a:r>
          </a:p>
          <a:p>
            <a:r>
              <a:t>three" — so the grader can tick them off.</a:t>
            </a:r>
          </a:p>
          <a:p/>
          <a:p>
            <a:r>
              <a:t>The fourth bullet is worth pausing on: O-negative can help almost anyone, AB-positive can</a:t>
            </a:r>
          </a:p>
          <a:p>
            <a:r>
              <a:t>receive from anyone. Matching on exact type alone would throw away most of the available</a:t>
            </a:r>
          </a:p>
          <a:p>
            <a:r>
              <a:t>supply. That detail signals we understood the domain rather than guessing at it.</a:t>
            </a:r>
          </a:p>
          <a:p/>
          <a:p>
            <a:r>
              <a:t>If asked what is NOT in version 1: in-app chat, rewards or gamification, hospital blood</a:t>
            </a:r>
          </a:p>
          <a:p>
            <a:r>
              <a:t>inventory, iOS, and automated medical verification. All are recorded as out of scope in the</a:t>
            </a:r>
          </a:p>
          <a:p>
            <a:r>
              <a:t>PRD, section 2.2 — deliberately excluded, not forgotten.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is a graded requirement — one sentence, defended. Deliver the sentence in bold on the</a:t>
            </a:r>
          </a:p>
          <a:p>
            <a:r>
              <a:t>slide verbatim, then stop. Do not elaborate unless asked.</a:t>
            </a:r>
          </a:p>
          <a:p/>
          <a:p>
            <a:r>
              <a:t>LIKELY QUESTION: "Couldn't a progressive web app do push notifications?"</a:t>
            </a:r>
          </a:p>
          <a:p>
            <a:r>
              <a:t>ANSWER: Partly, and that is the honest answer. Web push exists, but it is unreliable on the</a:t>
            </a:r>
          </a:p>
          <a:p>
            <a:r>
              <a:t>devices our donors actually use, it cannot read GPS in the background, and it cannot be</a:t>
            </a:r>
          </a:p>
          <a:p>
            <a:r>
              <a:t>distributed through the Play Store — which is this course's M7 requirement. We also need the</a:t>
            </a:r>
          </a:p>
          <a:p>
            <a:r>
              <a:t>app installed and present on the home screen, because a donor who has to remember a URL</a:t>
            </a:r>
          </a:p>
          <a:p>
            <a:r>
              <a:t>during an emergency will not use it.</a:t>
            </a:r>
          </a:p>
          <a:p/>
          <a:p>
            <a:r>
              <a:t>LIKELY QUESTION: "Then why build a web portal at all?"</a:t>
            </a:r>
          </a:p>
          <a:p>
            <a:r>
              <a:t>ANSWER: Different user, different context. Hospital staff work at a desk and need to</a:t>
            </a:r>
          </a:p>
          <a:p>
            <a:r>
              <a:t>confirm donations; that is a browser job. The mobile app is for the people who are moving.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One API, two clients. Say that first; the diagram then reads itself.</a:t>
            </a:r>
          </a:p>
          <a:p/>
          <a:p>
            <a:r>
              <a:t>The key decision here is Flutter rather than a hybrid wrapper. Flutter builds a native</a:t>
            </a:r>
          </a:p>
          <a:p>
            <a:r>
              <a:t>Android binary, which is what the Play Store requirement at M7 actually needs. We considered</a:t>
            </a:r>
          </a:p>
          <a:p>
            <a:r>
              <a:t>wrapping the Next.js app in Capacitor and rejected it — that is recorded in ADR 0001.</a:t>
            </a:r>
          </a:p>
          <a:p/>
          <a:p>
            <a:r>
              <a:t>Flyway matters more than it looks: the database schema is versioned migrations, not</a:t>
            </a:r>
          </a:p>
          <a:p>
            <a:r>
              <a:t>hand-edited tables, so every environment gets the same schema in the same order.</a:t>
            </a:r>
          </a:p>
          <a:p/>
          <a:p>
            <a:r>
              <a:t>If asked why not one codebase for everything: the two clients serve different users in</a:t>
            </a:r>
          </a:p>
          <a:p>
            <a:r>
              <a:t>different contexts, and they map cleanly onto team roles.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slide answers a question the audience has not asked yet: is this a plan or a wish?</a:t>
            </a:r>
          </a:p>
          <a:p/>
          <a:p>
            <a:r>
              <a:t>The seven added features are the strongest evidence. Each one closes a promise the PRD made</a:t>
            </a:r>
          </a:p>
          <a:p>
            <a:r>
              <a:t>in prose but never turned into a requirement — for example, the PRD says users may request</a:t>
            </a:r>
          </a:p>
          <a:p>
            <a:r>
              <a:t>deletion of their data, and no feature provided it. We found those by reading our own</a:t>
            </a:r>
          </a:p>
          <a:p>
            <a:r>
              <a:t>document adversarially.</a:t>
            </a:r>
          </a:p>
          <a:p/>
          <a:p>
            <a:r>
              <a:t>If asked how we track work: features have stable IDs, so a bug, a test case and a commit can</a:t>
            </a:r>
          </a:p>
          <a:p>
            <a:r>
              <a:t>all point at the same identifier. QA signs off against acceptance criteria, not against a</a:t>
            </a:r>
          </a:p>
          <a:p>
            <a:r>
              <a:t>demo.</a:t>
            </a:r>
          </a:p>
          <a:p/>
          <a:p>
            <a:r>
              <a:t>Do not spend more than a minute here. It is a credibility slide, not the substance.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Do not read all seven aloud. Name three: M2 is the stack running under Docker, M4 is the</a:t>
            </a:r>
          </a:p>
          <a:p>
            <a:r>
              <a:t>core matching feature end to end, M7 is published to Play Store internal testing by Week 15.</a:t>
            </a:r>
          </a:p>
          <a:p/>
          <a:p>
            <a:r>
              <a:t>M7 is the assignment's hard requirement, so say the words "internal testing" explicitly.</a:t>
            </a:r>
          </a:p>
          <a:p/>
          <a:p>
            <a:r>
              <a:t>This table is generated from our planning document, not retyped — which is why it cannot</a:t>
            </a:r>
          </a:p>
          <a:p>
            <a:r>
              <a:t>disagree with the plan. We changed three milestone rows this week when we found that</a:t>
            </a:r>
          </a:p>
          <a:p>
            <a:r>
              <a:t>matching was scheduled before the eligibility check it depends on. Slide 11 covers that.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Be straight about this. We have documentation and specifications, not running code. Week 2</a:t>
            </a:r>
          </a:p>
          <a:p>
            <a:r>
              <a:t>of 16 is the right time to have exactly that.</a:t>
            </a:r>
          </a:p>
          <a:p/>
          <a:p>
            <a:r>
              <a:t>What the M2 specs contain: the Flutter project structure and state-management choice, the</a:t>
            </a:r>
          </a:p>
          <a:p>
            <a:r>
              <a:t>Spring Boot package layout and the initial database migration covering all six entities,</a:t>
            </a:r>
          </a:p>
          <a:p>
            <a:r>
              <a:t>the Next.js routing and localization approach, and the Docker Compose service definitions.</a:t>
            </a:r>
          </a:p>
          <a:p>
            <a:r>
              <a:t>Each has a checklist a reviewer can pass or fail without asking us anything.</a:t>
            </a:r>
          </a:p>
          <a:p/>
          <a:p>
            <a:r>
              <a:t>LIKELY QUESTION: "Can you show us the app?"</a:t>
            </a:r>
          </a:p>
          <a:p>
            <a:r>
              <a:t>ANSWER: No, and we would rather say so than show a mockup that implies working software.</a:t>
            </a:r>
          </a:p>
          <a:p>
            <a:r>
              <a:t>What we can show is the specification the build will be checked against.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Five numbers, all from the PRD. These are targets we set, not results we have.</a:t>
            </a:r>
          </a:p>
          <a:p/>
          <a:p>
            <a:r>
              <a:t>The important one is the third: median time to first acceptance. It is the number that says</a:t>
            </a:r>
          </a:p>
          <a:p>
            <a:r>
              <a:t>whether we actually beat a Facebook post, and it is the reason the app exists.</a:t>
            </a:r>
          </a:p>
          <a:p/>
          <a:p>
            <a:r>
              <a:t>Note that hospital-verified matters in the fourth metric. A self-reported donation is not</a:t>
            </a:r>
          </a:p>
          <a:p>
            <a:r>
              <a:t>evidence; a donation confirmed by hospital staff is.</a:t>
            </a:r>
          </a:p>
          <a:p/>
          <a:p>
            <a:r>
              <a:t>LIKELY QUESTION: "How will you measure these?"</a:t>
            </a:r>
          </a:p>
          <a:p>
            <a:r>
              <a:t>ANSWER: We registered a feature specifically for it — event capture is a delivery</a:t>
            </a:r>
          </a:p>
          <a:p>
            <a:r>
              <a:t>requirement on every milestone from M3 onward, not something bolted on at the end. Events</a:t>
            </a:r>
          </a:p>
          <a:p>
            <a:r>
              <a:t>we do not record while they happen are gone.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Most Week-2 decks hide what they do not know. This slide is deliberate — it is the one that</a:t>
            </a:r>
          </a:p>
          <a:p>
            <a:r>
              <a:t>shows the plan is real.</a:t>
            </a:r>
          </a:p>
          <a:p/>
          <a:p>
            <a:r>
              <a:t>On location precision: storing exact coordinates gives accurate distance ranking but holds</a:t>
            </a:r>
          </a:p>
          <a:p>
            <a:r>
              <a:t>sensitive personal data; a district centroid is safer but less accurate. It is simultaneously</a:t>
            </a:r>
          </a:p>
          <a:p>
            <a:r>
              <a:t>a privacy decision and a product decision, and it changes the database schema, so we are</a:t>
            </a:r>
          </a:p>
          <a:p>
            <a:r>
              <a:t>deciding it before we write the migration rather than after.</a:t>
            </a:r>
          </a:p>
          <a:p/>
          <a:p>
            <a:r>
              <a:t>On M4: we found that matching was scheduled before the eligibility check it depends on, and</a:t>
            </a:r>
          </a:p>
          <a:p>
            <a:r>
              <a:t>that push notification was scheduled after the feature that triggers it. We moved both</a:t>
            </a:r>
          </a:p>
          <a:p>
            <a:r>
              <a:t>earlier rather than let a milestone close with its own acceptance criteria unmet. That made</a:t>
            </a:r>
          </a:p>
          <a:p>
            <a:r>
              <a:t>M4 heavy, so we agreed in advance which two features get cut first if it slips.</a:t>
            </a:r>
          </a:p>
          <a:p/>
          <a:p>
            <a:r>
              <a:t>LIKELY QUESTION: "Isn't it a problem that so much is undecided?"</a:t>
            </a:r>
          </a:p>
          <a:p>
            <a:r>
              <a:t>ANSWER: These are written down with the milestone each one blocks and the date it must be</a:t>
            </a:r>
          </a:p>
          <a:p>
            <a:r>
              <a:t>resolved. The alternative is not fewer unknowns — it is the same unknowns, undocumented.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End on the question, not on thanks. Ask it directly and then stop talking.</a:t>
            </a:r>
          </a:p>
          <a:p/>
          <a:p>
            <a:r>
              <a:t>We are raising it rather than waiting to be asked, because the answer may change team</a:t>
            </a:r>
          </a:p>
          <a:p>
            <a:r>
              <a:t>composition or how the work is graded, and it is cheaper to know in Week 2 than Week 10.</a:t>
            </a:r>
          </a:p>
          <a:p/>
          <a:p>
            <a:r>
              <a:t>If the answer is "split into teams of 3": our roles already divide along clean boundaries —</a:t>
            </a:r>
          </a:p>
          <a:p>
            <a:r>
              <a:t>each person owns a directory and a document set, so a split is a reassignment, not a rewrite.</a:t>
            </a:r>
          </a:p>
          <a:p/>
          <a:p>
            <a:r>
              <a:t>If asked who does what day to day: one person holds several roles right now, which we know</a:t>
            </a:r>
          </a:p>
          <a:p>
            <a:r>
              <a:t>concentrates approval in one place. QA sign-off is kept independent for exactly that reason.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1828800"/>
            <a:ext cx="1051560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6000" b="1">
                <a:solidFill>
                  <a:srgbClr val="C0212E"/>
                </a:solidFill>
                <a:latin typeface="Noto Sans Khmer"/>
              </a:rPr>
              <a:t>ជីវិត</a:t>
            </a:r>
          </a:p>
          <a:p>
            <a:r>
              <a:rPr sz="4600" b="1">
                <a:solidFill>
                  <a:srgbClr val="1A1A2E"/>
                </a:solidFill>
                <a:latin typeface="Helvetica Neue"/>
              </a:rPr>
              <a:t>LifeLink KH</a:t>
            </a:r>
          </a:p>
          <a:p>
            <a:pPr>
              <a:spcBef>
                <a:spcPts val="1600"/>
              </a:spcBef>
            </a:pPr>
            <a:r>
              <a:rPr sz="2400" b="0">
                <a:solidFill>
                  <a:srgbClr val="5A5A6E"/>
                </a:solidFill>
                <a:latin typeface="Helvetica Neue"/>
              </a:rPr>
              <a:t>Blood donor matching for Cambodia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4937760"/>
            <a:ext cx="10515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1A1A2E"/>
                </a:solidFill>
                <a:latin typeface="Helvetica Neue"/>
              </a:rPr>
              <a:t>Nem Sothea · Suon Pisey · Sourn SAVOURN · Moeun Nithvaraman · Oun Sreynich</a:t>
            </a:r>
          </a:p>
          <a:p>
            <a:r>
              <a:rPr sz="1400" b="0">
                <a:solidFill>
                  <a:srgbClr val="5A5A6E"/>
                </a:solidFill>
                <a:latin typeface="Helvetica Neue"/>
              </a:rPr>
              <a:t>Cross-Platform Mobile App Development · Track B · Week 2 of 16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11480"/>
            <a:ext cx="1069848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>
                <a:solidFill>
                  <a:srgbClr val="0F6B5F"/>
                </a:solidFill>
                <a:latin typeface="Helvetica Neue"/>
              </a:rPr>
              <a:t>WHY</a:t>
            </a:r>
          </a:p>
          <a:p>
            <a:r>
              <a:rPr sz="3000" b="1">
                <a:solidFill>
                  <a:srgbClr val="1A1A2E"/>
                </a:solidFill>
                <a:latin typeface="Noto Sans Khmer"/>
              </a:rPr>
              <a:t>បញ្ហា</a:t>
            </a:r>
          </a:p>
          <a:p>
            <a:r>
              <a:rPr sz="3400" b="1">
                <a:solidFill>
                  <a:srgbClr val="C0212E"/>
                </a:solidFill>
                <a:latin typeface="Helvetica Neue"/>
              </a:rPr>
              <a:t>The Problem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2084831"/>
            <a:ext cx="1280160" cy="34925"/>
          </a:xfrm>
          <a:prstGeom prst="rect">
            <a:avLst/>
          </a:prstGeom>
          <a:solidFill>
            <a:srgbClr val="C021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2468880"/>
            <a:ext cx="105156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1900" b="1">
                <a:solidFill>
                  <a:srgbClr val="C0212E"/>
                </a:solidFill>
                <a:latin typeface="Helvetica Neue"/>
              </a:rPr>
              <a:t>▪  </a:t>
            </a:r>
            <a:r>
              <a:rPr sz="1900" b="0">
                <a:solidFill>
                  <a:srgbClr val="1A1A2E"/>
                </a:solidFill>
                <a:latin typeface="Helvetica Neue"/>
              </a:rPr>
              <a:t>Hospitals and the National Blood Transfusion Center rely on Facebook posts</a:t>
            </a:r>
          </a:p>
          <a:p>
            <a:pPr>
              <a:spcAft>
                <a:spcPts val="1400"/>
              </a:spcAft>
            </a:pPr>
            <a:r>
              <a:rPr sz="1900" b="1">
                <a:solidFill>
                  <a:srgbClr val="C0212E"/>
                </a:solidFill>
                <a:latin typeface="Helvetica Neue"/>
              </a:rPr>
              <a:t>▪  </a:t>
            </a:r>
            <a:r>
              <a:rPr sz="1900" b="0">
                <a:solidFill>
                  <a:srgbClr val="1A1A2E"/>
                </a:solidFill>
                <a:latin typeface="Helvetica Neue"/>
              </a:rPr>
              <a:t>A post reaches whoever scrolls past — not compatible donors nearby</a:t>
            </a:r>
          </a:p>
          <a:p>
            <a:pPr>
              <a:spcAft>
                <a:spcPts val="1400"/>
              </a:spcAft>
            </a:pPr>
            <a:r>
              <a:rPr sz="1900" b="1">
                <a:solidFill>
                  <a:srgbClr val="C0212E"/>
                </a:solidFill>
                <a:latin typeface="Helvetica Neue"/>
              </a:rPr>
              <a:t>▪  </a:t>
            </a:r>
            <a:r>
              <a:rPr sz="1900" b="0">
                <a:solidFill>
                  <a:srgbClr val="1A1A2E"/>
                </a:solidFill>
                <a:latin typeface="Helvetica Neue"/>
              </a:rPr>
              <a:t>No way to filter by blood type, distance, or donor eligibility</a:t>
            </a:r>
          </a:p>
          <a:p>
            <a:pPr>
              <a:spcAft>
                <a:spcPts val="1400"/>
              </a:spcAft>
            </a:pPr>
            <a:r>
              <a:rPr sz="1900" b="1">
                <a:solidFill>
                  <a:srgbClr val="C0212E"/>
                </a:solidFill>
                <a:latin typeface="Helvetica Neue"/>
              </a:rPr>
              <a:t>▪  </a:t>
            </a:r>
            <a:r>
              <a:rPr sz="1900" b="0">
                <a:solidFill>
                  <a:srgbClr val="1A1A2E"/>
                </a:solidFill>
                <a:latin typeface="Helvetica Neue"/>
              </a:rPr>
              <a:t>No way to know if anyone is coming to help</a:t>
            </a:r>
          </a:p>
          <a:p>
            <a:pPr>
              <a:spcAft>
                <a:spcPts val="1400"/>
              </a:spcAft>
            </a:pPr>
            <a:r>
              <a:rPr sz="1900" b="1">
                <a:solidFill>
                  <a:srgbClr val="C0212E"/>
                </a:solidFill>
                <a:latin typeface="Helvetica Neue"/>
              </a:rPr>
              <a:t>▪  </a:t>
            </a:r>
            <a:r>
              <a:rPr sz="1900" b="0">
                <a:solidFill>
                  <a:srgbClr val="1A1A2E"/>
                </a:solidFill>
                <a:latin typeface="Helvetica Neue"/>
              </a:rPr>
              <a:t>Blood emergencies are measured in minutes; this process is not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6263640"/>
            <a:ext cx="10607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5A5A6E"/>
                </a:solidFill>
                <a:latin typeface="Helvetica Neue"/>
              </a:rPr>
              <a:t>LifeLink KH · Track B team product · Week 2 of 16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11480"/>
            <a:ext cx="1069848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>
                <a:solidFill>
                  <a:srgbClr val="0F6B5F"/>
                </a:solidFill>
                <a:latin typeface="Helvetica Neue"/>
              </a:rPr>
              <a:t>WHO</a:t>
            </a:r>
          </a:p>
          <a:p>
            <a:r>
              <a:rPr sz="3000" b="1">
                <a:solidFill>
                  <a:srgbClr val="1A1A2E"/>
                </a:solidFill>
                <a:latin typeface="Noto Sans Khmer"/>
              </a:rPr>
              <a:t>អ្នកប្រើប្រាស់គោលដៅ</a:t>
            </a:r>
          </a:p>
          <a:p>
            <a:r>
              <a:rPr sz="3400" b="1">
                <a:solidFill>
                  <a:srgbClr val="C0212E"/>
                </a:solidFill>
                <a:latin typeface="Helvetica Neue"/>
              </a:rPr>
              <a:t>Target Users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2084831"/>
            <a:ext cx="1280160" cy="34925"/>
          </a:xfrm>
          <a:prstGeom prst="rect">
            <a:avLst/>
          </a:prstGeom>
          <a:solidFill>
            <a:srgbClr val="C021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2468880"/>
            <a:ext cx="105156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1900" b="1">
                <a:solidFill>
                  <a:srgbClr val="C0212E"/>
                </a:solidFill>
                <a:latin typeface="Helvetica Neue"/>
              </a:rPr>
              <a:t>▪  </a:t>
            </a:r>
            <a:r>
              <a:rPr sz="1900" b="0">
                <a:solidFill>
                  <a:srgbClr val="1A1A2E"/>
                </a:solidFill>
                <a:latin typeface="Helvetica Neue"/>
              </a:rPr>
              <a:t>Donor — a voluntary blood donor, on the mobile app</a:t>
            </a:r>
          </a:p>
          <a:p>
            <a:pPr>
              <a:spcAft>
                <a:spcPts val="1400"/>
              </a:spcAft>
            </a:pPr>
            <a:r>
              <a:rPr sz="1900" b="1">
                <a:solidFill>
                  <a:srgbClr val="C0212E"/>
                </a:solidFill>
                <a:latin typeface="Helvetica Neue"/>
              </a:rPr>
              <a:t>▪  </a:t>
            </a:r>
            <a:r>
              <a:rPr sz="1900" b="0">
                <a:solidFill>
                  <a:srgbClr val="1A1A2E"/>
                </a:solidFill>
                <a:latin typeface="Helvetica Neue"/>
              </a:rPr>
              <a:t>Requester — a patient or family member needing blood, mobile</a:t>
            </a:r>
          </a:p>
          <a:p>
            <a:pPr>
              <a:spcAft>
                <a:spcPts val="1400"/>
              </a:spcAft>
            </a:pPr>
            <a:r>
              <a:rPr sz="1900" b="1">
                <a:solidFill>
                  <a:srgbClr val="C0212E"/>
                </a:solidFill>
                <a:latin typeface="Helvetica Neue"/>
              </a:rPr>
              <a:t>▪  </a:t>
            </a:r>
            <a:r>
              <a:rPr sz="1900" b="0">
                <a:solidFill>
                  <a:srgbClr val="1A1A2E"/>
                </a:solidFill>
                <a:latin typeface="Helvetica Neue"/>
              </a:rPr>
              <a:t>Hospital staff — verifies requests, confirms donations, on web</a:t>
            </a:r>
          </a:p>
          <a:p>
            <a:pPr>
              <a:spcAft>
                <a:spcPts val="1400"/>
              </a:spcAft>
            </a:pPr>
            <a:r>
              <a:rPr sz="1900" b="1">
                <a:solidFill>
                  <a:srgbClr val="C0212E"/>
                </a:solidFill>
                <a:latin typeface="Helvetica Neue"/>
              </a:rPr>
              <a:t>▪  </a:t>
            </a:r>
            <a:r>
              <a:rPr sz="1900" b="0">
                <a:solidFill>
                  <a:srgbClr val="1A1A2E"/>
                </a:solidFill>
                <a:latin typeface="Helvetica Neue"/>
              </a:rPr>
              <a:t>Administrator — manages users and hospitals, on web</a:t>
            </a:r>
          </a:p>
          <a:p>
            <a:pPr>
              <a:spcAft>
                <a:spcPts val="1400"/>
              </a:spcAft>
            </a:pPr>
            <a:r>
              <a:rPr sz="1900" b="1">
                <a:solidFill>
                  <a:srgbClr val="C0212E"/>
                </a:solidFill>
                <a:latin typeface="Helvetica Neue"/>
              </a:rPr>
              <a:t>▪  </a:t>
            </a:r>
            <a:r>
              <a:rPr sz="1900" b="0">
                <a:solidFill>
                  <a:srgbClr val="1A1A2E"/>
                </a:solidFill>
                <a:latin typeface="Helvetica Neue"/>
              </a:rPr>
              <a:t>Pilot scope: Phnom Penh first, other provinces later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6263640"/>
            <a:ext cx="10607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5A5A6E"/>
                </a:solidFill>
                <a:latin typeface="Helvetica Neue"/>
              </a:rPr>
              <a:t>LifeLink KH · Track B team product · Week 2 of 16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11480"/>
            <a:ext cx="1069848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>
                <a:solidFill>
                  <a:srgbClr val="0F6B5F"/>
                </a:solidFill>
                <a:latin typeface="Helvetica Neue"/>
              </a:rPr>
              <a:t>WHAT</a:t>
            </a:r>
          </a:p>
          <a:p>
            <a:r>
              <a:rPr sz="3000" b="1">
                <a:solidFill>
                  <a:srgbClr val="1A1A2E"/>
                </a:solidFill>
                <a:latin typeface="Noto Sans Khmer"/>
              </a:rPr>
              <a:t>មុខងារសំខាន់បី</a:t>
            </a:r>
          </a:p>
          <a:p>
            <a:r>
              <a:rPr sz="3400" b="1">
                <a:solidFill>
                  <a:srgbClr val="C0212E"/>
                </a:solidFill>
                <a:latin typeface="Helvetica Neue"/>
              </a:rPr>
              <a:t>Three Core Features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2084831"/>
            <a:ext cx="1280160" cy="34925"/>
          </a:xfrm>
          <a:prstGeom prst="rect">
            <a:avLst/>
          </a:prstGeom>
          <a:solidFill>
            <a:srgbClr val="C021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2468880"/>
            <a:ext cx="105156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1900" b="1">
                <a:solidFill>
                  <a:srgbClr val="C0212E"/>
                </a:solidFill>
                <a:latin typeface="Helvetica Neue"/>
              </a:rPr>
              <a:t>▪  </a:t>
            </a:r>
            <a:r>
              <a:rPr sz="1900" b="0">
                <a:solidFill>
                  <a:srgbClr val="1A1A2E"/>
                </a:solidFill>
                <a:latin typeface="Helvetica Neue"/>
              </a:rPr>
              <a:t>1 · Donor register — blood type, location, automatic 56-day eligibility check</a:t>
            </a:r>
          </a:p>
          <a:p>
            <a:pPr>
              <a:spcAft>
                <a:spcPts val="1400"/>
              </a:spcAft>
            </a:pPr>
            <a:r>
              <a:rPr sz="1900" b="1">
                <a:solidFill>
                  <a:srgbClr val="C0212E"/>
                </a:solidFill>
                <a:latin typeface="Helvetica Neue"/>
              </a:rPr>
              <a:t>▪  </a:t>
            </a:r>
            <a:r>
              <a:rPr sz="1900" b="0">
                <a:solidFill>
                  <a:srgbClr val="1A1A2E"/>
                </a:solidFill>
                <a:latin typeface="Helvetica Neue"/>
              </a:rPr>
              <a:t>2 · Urgent request broadcast — push to matching donors by type and distance</a:t>
            </a:r>
          </a:p>
          <a:p>
            <a:pPr>
              <a:spcAft>
                <a:spcPts val="1400"/>
              </a:spcAft>
            </a:pPr>
            <a:r>
              <a:rPr sz="1900" b="1">
                <a:solidFill>
                  <a:srgbClr val="C0212E"/>
                </a:solidFill>
                <a:latin typeface="Helvetica Neue"/>
              </a:rPr>
              <a:t>▪  </a:t>
            </a:r>
            <a:r>
              <a:rPr sz="1900" b="0">
                <a:solidFill>
                  <a:srgbClr val="1A1A2E"/>
                </a:solidFill>
                <a:latin typeface="Helvetica Neue"/>
              </a:rPr>
              <a:t>3 · History + reminder — tracks cooldown, alerts donor when eligible again</a:t>
            </a:r>
          </a:p>
          <a:p>
            <a:pPr>
              <a:spcAft>
                <a:spcPts val="1400"/>
              </a:spcAft>
            </a:pPr>
            <a:r>
              <a:rPr sz="1900" b="1">
                <a:solidFill>
                  <a:srgbClr val="C0212E"/>
                </a:solidFill>
                <a:latin typeface="Helvetica Neue"/>
              </a:rPr>
              <a:t>▪  </a:t>
            </a:r>
            <a:r>
              <a:rPr sz="1900" b="0">
                <a:solidFill>
                  <a:srgbClr val="1A1A2E"/>
                </a:solidFill>
                <a:latin typeface="Helvetica Neue"/>
              </a:rPr>
              <a:t>Matching uses ABO/Rh compatibility, not exact blood type only</a:t>
            </a:r>
          </a:p>
          <a:p>
            <a:pPr>
              <a:spcAft>
                <a:spcPts val="1400"/>
              </a:spcAft>
            </a:pPr>
            <a:r>
              <a:rPr sz="1900" b="1">
                <a:solidFill>
                  <a:srgbClr val="C0212E"/>
                </a:solidFill>
                <a:latin typeface="Helvetica Neue"/>
              </a:rPr>
              <a:t>▪  </a:t>
            </a:r>
            <a:r>
              <a:rPr sz="1900" b="0">
                <a:solidFill>
                  <a:srgbClr val="1A1A2E"/>
                </a:solidFill>
                <a:latin typeface="Helvetica Neue"/>
              </a:rPr>
              <a:t>Khmer and English on both clients, Khmer as the default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6263640"/>
            <a:ext cx="10607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5A5A6E"/>
                </a:solidFill>
                <a:latin typeface="Helvetica Neue"/>
              </a:rPr>
              <a:t>LifeLink KH · Track B team product · Week 2 of 16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11480"/>
            <a:ext cx="1069848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>
                <a:solidFill>
                  <a:srgbClr val="0F6B5F"/>
                </a:solidFill>
                <a:latin typeface="Helvetica Neue"/>
              </a:rPr>
              <a:t>WHY</a:t>
            </a:r>
          </a:p>
          <a:p>
            <a:r>
              <a:rPr sz="3000" b="1">
                <a:solidFill>
                  <a:srgbClr val="1A1A2E"/>
                </a:solidFill>
                <a:latin typeface="Noto Sans Khmer"/>
              </a:rPr>
              <a:t>ហេតុអ្វីត្រូវជាកម្មវិធីទូរស័ព្ទ</a:t>
            </a:r>
          </a:p>
          <a:p>
            <a:r>
              <a:rPr sz="3400" b="1">
                <a:solidFill>
                  <a:srgbClr val="C0212E"/>
                </a:solidFill>
                <a:latin typeface="Helvetica Neue"/>
              </a:rPr>
              <a:t>Why Mobile, Not a Website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2084831"/>
            <a:ext cx="1280160" cy="34925"/>
          </a:xfrm>
          <a:prstGeom prst="rect">
            <a:avLst/>
          </a:prstGeom>
          <a:solidFill>
            <a:srgbClr val="C021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2560320"/>
            <a:ext cx="105156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>
                <a:solidFill>
                  <a:srgbClr val="1A1A2E"/>
                </a:solidFill>
                <a:latin typeface="Helvetica Neue"/>
              </a:rPr>
              <a:t>A blood emergency needs an instant, location-aware push alert on a donor's phone — a website can neither push a time-critical notification nor read real-time GPS.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4572000"/>
            <a:ext cx="105156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1">
                <a:solidFill>
                  <a:srgbClr val="0F6B5F"/>
                </a:solidFill>
                <a:latin typeface="Helvetica Neue"/>
              </a:rPr>
              <a:t>▪  </a:t>
            </a:r>
            <a:r>
              <a:rPr sz="1500" b="0">
                <a:solidFill>
                  <a:srgbClr val="5A5A6E"/>
                </a:solidFill>
                <a:latin typeface="Helvetica Neue"/>
              </a:rPr>
              <a:t>Push notification — reaches a donor who is not looking at their phone</a:t>
            </a:r>
          </a:p>
          <a:p>
            <a:pPr>
              <a:spcAft>
                <a:spcPts val="800"/>
              </a:spcAft>
            </a:pPr>
            <a:r>
              <a:rPr sz="1500" b="1">
                <a:solidFill>
                  <a:srgbClr val="0F6B5F"/>
                </a:solidFill>
                <a:latin typeface="Helvetica Neue"/>
              </a:rPr>
              <a:t>▪  </a:t>
            </a:r>
            <a:r>
              <a:rPr sz="1500" b="0">
                <a:solidFill>
                  <a:srgbClr val="5A5A6E"/>
                </a:solidFill>
                <a:latin typeface="Helvetica Neue"/>
              </a:rPr>
              <a:t>Real-time GPS — ranks donors by actual distance to the hospital</a:t>
            </a:r>
          </a:p>
          <a:p>
            <a:pPr>
              <a:spcAft>
                <a:spcPts val="800"/>
              </a:spcAft>
            </a:pPr>
            <a:r>
              <a:rPr sz="1500" b="1">
                <a:solidFill>
                  <a:srgbClr val="0F6B5F"/>
                </a:solidFill>
                <a:latin typeface="Helvetica Neue"/>
              </a:rPr>
              <a:t>▪  </a:t>
            </a:r>
            <a:r>
              <a:rPr sz="1500" b="0">
                <a:solidFill>
                  <a:srgbClr val="5A5A6E"/>
                </a:solidFill>
                <a:latin typeface="Helvetica Neue"/>
              </a:rPr>
              <a:t>Installed app — no URL to find while a relative is in a corridor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6263640"/>
            <a:ext cx="10607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5A5A6E"/>
                </a:solidFill>
                <a:latin typeface="Helvetica Neue"/>
              </a:rPr>
              <a:t>LifeLink KH · Track B team product · Week 2 of 16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11480"/>
            <a:ext cx="1069848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>
                <a:solidFill>
                  <a:srgbClr val="0F6B5F"/>
                </a:solidFill>
                <a:latin typeface="Helvetica Neue"/>
              </a:rPr>
              <a:t>HOW</a:t>
            </a:r>
          </a:p>
          <a:p>
            <a:r>
              <a:rPr sz="3000" b="1">
                <a:solidFill>
                  <a:srgbClr val="1A1A2E"/>
                </a:solidFill>
                <a:latin typeface="Noto Sans Khmer"/>
              </a:rPr>
              <a:t>ស្ថាបត្យកម្មប្រព័ន្ធ</a:t>
            </a:r>
          </a:p>
          <a:p>
            <a:r>
              <a:rPr sz="3400" b="1">
                <a:solidFill>
                  <a:srgbClr val="C0212E"/>
                </a:solidFill>
                <a:latin typeface="Helvetica Neue"/>
              </a:rPr>
              <a:t>Architecture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2084831"/>
            <a:ext cx="1280160" cy="34925"/>
          </a:xfrm>
          <a:prstGeom prst="rect">
            <a:avLst/>
          </a:prstGeom>
          <a:solidFill>
            <a:srgbClr val="C021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2423160"/>
            <a:ext cx="603504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>
                <a:solidFill>
                  <a:srgbClr val="1A1A2E"/>
                </a:solidFill>
                <a:latin typeface="Menlo"/>
              </a:rPr>
              <a:t>                Spring Boot API  ──▶  PostgreSQL (Flyway)
                    ▲          ▲
       REST/HTTPS   │          │   REST/HTTPS
                    │          │
       Flutter app ─┘          └─ Next.js web portal
    (donors / patients)          (hospitals / admin)
         → Play Store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32320" y="2423160"/>
            <a:ext cx="429768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00"/>
              </a:spcAft>
            </a:pPr>
            <a:r>
              <a:rPr sz="1500" b="1">
                <a:solidFill>
                  <a:srgbClr val="0F6B5F"/>
                </a:solidFill>
                <a:latin typeface="Helvetica Neue"/>
              </a:rPr>
              <a:t>Backend   </a:t>
            </a:r>
            <a:r>
              <a:rPr sz="1500" b="0">
                <a:solidFill>
                  <a:srgbClr val="1A1A2E"/>
                </a:solidFill>
                <a:latin typeface="Helvetica Neue"/>
              </a:rPr>
              <a:t>Spring Boot · PostgreSQL · Flyway</a:t>
            </a:r>
          </a:p>
          <a:p>
            <a:pPr>
              <a:spcAft>
                <a:spcPts val="1100"/>
              </a:spcAft>
            </a:pPr>
            <a:r>
              <a:rPr sz="1500" b="1">
                <a:solidFill>
                  <a:srgbClr val="0F6B5F"/>
                </a:solidFill>
                <a:latin typeface="Helvetica Neue"/>
              </a:rPr>
              <a:t>Web   </a:t>
            </a:r>
            <a:r>
              <a:rPr sz="1500" b="0">
                <a:solidFill>
                  <a:srgbClr val="1A1A2E"/>
                </a:solidFill>
                <a:latin typeface="Helvetica Neue"/>
              </a:rPr>
              <a:t>Next.js · TypeScript · Tailwind</a:t>
            </a:r>
          </a:p>
          <a:p>
            <a:pPr>
              <a:spcAft>
                <a:spcPts val="1100"/>
              </a:spcAft>
            </a:pPr>
            <a:r>
              <a:rPr sz="1500" b="1">
                <a:solidFill>
                  <a:srgbClr val="0F6B5F"/>
                </a:solidFill>
                <a:latin typeface="Helvetica Neue"/>
              </a:rPr>
              <a:t>Mobile   </a:t>
            </a:r>
            <a:r>
              <a:rPr sz="1500" b="0">
                <a:solidFill>
                  <a:srgbClr val="1A1A2E"/>
                </a:solidFill>
                <a:latin typeface="Helvetica Neue"/>
              </a:rPr>
              <a:t>Flutter → native Android</a:t>
            </a:r>
          </a:p>
          <a:p>
            <a:pPr>
              <a:spcAft>
                <a:spcPts val="1100"/>
              </a:spcAft>
            </a:pPr>
            <a:r>
              <a:rPr sz="1500" b="1">
                <a:solidFill>
                  <a:srgbClr val="0F6B5F"/>
                </a:solidFill>
                <a:latin typeface="Helvetica Neue"/>
              </a:rPr>
              <a:t>Push   </a:t>
            </a:r>
            <a:r>
              <a:rPr sz="1500" b="0">
                <a:solidFill>
                  <a:srgbClr val="1A1A2E"/>
                </a:solidFill>
                <a:latin typeface="Helvetica Neue"/>
              </a:rPr>
              <a:t>Firebase Cloud Messaging</a:t>
            </a:r>
          </a:p>
          <a:p>
            <a:pPr>
              <a:spcAft>
                <a:spcPts val="1100"/>
              </a:spcAft>
            </a:pPr>
            <a:r>
              <a:rPr sz="1500" b="1">
                <a:solidFill>
                  <a:srgbClr val="0F6B5F"/>
                </a:solidFill>
                <a:latin typeface="Helvetica Neue"/>
              </a:rPr>
              <a:t>Location   </a:t>
            </a:r>
            <a:r>
              <a:rPr sz="1500" b="0">
                <a:solidFill>
                  <a:srgbClr val="1A1A2E"/>
                </a:solidFill>
                <a:latin typeface="Helvetica Neue"/>
              </a:rPr>
              <a:t>Google Maps · geolocator</a:t>
            </a:r>
          </a:p>
          <a:p>
            <a:pPr>
              <a:spcAft>
                <a:spcPts val="1100"/>
              </a:spcAft>
            </a:pPr>
            <a:r>
              <a:rPr sz="1500" b="1">
                <a:solidFill>
                  <a:srgbClr val="0F6B5F"/>
                </a:solidFill>
                <a:latin typeface="Helvetica Neue"/>
              </a:rPr>
              <a:t>Infra   </a:t>
            </a:r>
            <a:r>
              <a:rPr sz="1500" b="0">
                <a:solidFill>
                  <a:srgbClr val="1A1A2E"/>
                </a:solidFill>
                <a:latin typeface="Helvetica Neue"/>
              </a:rPr>
              <a:t>Docker Compose · GitHub Actions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6263640"/>
            <a:ext cx="10607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5A5A6E"/>
                </a:solidFill>
                <a:latin typeface="Helvetica Neue"/>
              </a:rPr>
              <a:t>LifeLink KH · Track B team product · Week 2 of 16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11480"/>
            <a:ext cx="1069848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>
                <a:solidFill>
                  <a:srgbClr val="0F6B5F"/>
                </a:solidFill>
                <a:latin typeface="Helvetica Neue"/>
              </a:rPr>
              <a:t>HOW</a:t>
            </a:r>
          </a:p>
          <a:p>
            <a:r>
              <a:rPr sz="3000" b="1">
                <a:solidFill>
                  <a:srgbClr val="1A1A2E"/>
                </a:solidFill>
                <a:latin typeface="Noto Sans Khmer"/>
              </a:rPr>
              <a:t>ការគ្រប់គ្រងវិសាលភាព</a:t>
            </a:r>
          </a:p>
          <a:p>
            <a:r>
              <a:rPr sz="3400" b="1">
                <a:solidFill>
                  <a:srgbClr val="C0212E"/>
                </a:solidFill>
                <a:latin typeface="Helvetica Neue"/>
              </a:rPr>
              <a:t>How We Manage Scope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2084831"/>
            <a:ext cx="1280160" cy="34925"/>
          </a:xfrm>
          <a:prstGeom prst="rect">
            <a:avLst/>
          </a:prstGeom>
          <a:solidFill>
            <a:srgbClr val="C021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2468880"/>
            <a:ext cx="105156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1900" b="1">
                <a:solidFill>
                  <a:srgbClr val="C0212E"/>
                </a:solidFill>
                <a:latin typeface="Helvetica Neue"/>
              </a:rPr>
              <a:t>▪  </a:t>
            </a:r>
            <a:r>
              <a:rPr sz="1900" b="0">
                <a:solidFill>
                  <a:srgbClr val="1A1A2E"/>
                </a:solidFill>
                <a:latin typeface="Helvetica Neue"/>
              </a:rPr>
              <a:t>19 features registered, each with an ID, area, priority, milestone</a:t>
            </a:r>
          </a:p>
          <a:p>
            <a:pPr>
              <a:spcAft>
                <a:spcPts val="1400"/>
              </a:spcAft>
            </a:pPr>
            <a:r>
              <a:rPr sz="1900" b="1">
                <a:solidFill>
                  <a:srgbClr val="C0212E"/>
                </a:solidFill>
                <a:latin typeface="Helvetica Neue"/>
              </a:rPr>
              <a:t>▪  </a:t>
            </a:r>
            <a:r>
              <a:rPr sz="1900" b="0">
                <a:solidFill>
                  <a:srgbClr val="1A1A2E"/>
                </a:solidFill>
                <a:latin typeface="Helvetica Neue"/>
              </a:rPr>
              <a:t>12 accepted from the PRD · 7 added to close documented gaps</a:t>
            </a:r>
          </a:p>
          <a:p>
            <a:pPr>
              <a:spcAft>
                <a:spcPts val="1400"/>
              </a:spcAft>
            </a:pPr>
            <a:r>
              <a:rPr sz="1900" b="1">
                <a:solidFill>
                  <a:srgbClr val="C0212E"/>
                </a:solidFill>
                <a:latin typeface="Helvetica Neue"/>
              </a:rPr>
              <a:t>▪  </a:t>
            </a:r>
            <a:r>
              <a:rPr sz="1900" b="0">
                <a:solidFill>
                  <a:srgbClr val="1A1A2E"/>
                </a:solidFill>
                <a:latin typeface="Helvetica Neue"/>
              </a:rPr>
              <a:t>Definition of Done: spec signed off, merged, QA verified, no open bugs</a:t>
            </a:r>
          </a:p>
          <a:p>
            <a:pPr>
              <a:spcAft>
                <a:spcPts val="1400"/>
              </a:spcAft>
            </a:pPr>
            <a:r>
              <a:rPr sz="1900" b="1">
                <a:solidFill>
                  <a:srgbClr val="C0212E"/>
                </a:solidFill>
                <a:latin typeface="Helvetica Neue"/>
              </a:rPr>
              <a:t>▪  </a:t>
            </a:r>
            <a:r>
              <a:rPr sz="1900" b="0">
                <a:solidFill>
                  <a:srgbClr val="1A1A2E"/>
                </a:solidFill>
                <a:latin typeface="Helvetica Neue"/>
              </a:rPr>
              <a:t>Every architecture choice recorded as a decision record</a:t>
            </a:r>
          </a:p>
          <a:p>
            <a:pPr>
              <a:spcAft>
                <a:spcPts val="1400"/>
              </a:spcAft>
            </a:pPr>
            <a:r>
              <a:rPr sz="1900" b="1">
                <a:solidFill>
                  <a:srgbClr val="C0212E"/>
                </a:solidFill>
                <a:latin typeface="Helvetica Neue"/>
              </a:rPr>
              <a:t>▪  </a:t>
            </a:r>
            <a:r>
              <a:rPr sz="1900" b="0">
                <a:solidFill>
                  <a:srgbClr val="1A1A2E"/>
                </a:solidFill>
                <a:latin typeface="Helvetica Neue"/>
              </a:rPr>
              <a:t>Open product questions tracked as briefs, with the milestone each blocks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6263640"/>
            <a:ext cx="10607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5A5A6E"/>
                </a:solidFill>
                <a:latin typeface="Helvetica Neue"/>
              </a:rPr>
              <a:t>LifeLink KH · Track B team product · Week 2 of 16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11480"/>
            <a:ext cx="1069848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>
                <a:solidFill>
                  <a:srgbClr val="0F6B5F"/>
                </a:solidFill>
                <a:latin typeface="Helvetica Neue"/>
              </a:rPr>
              <a:t>WHEN</a:t>
            </a:r>
          </a:p>
          <a:p>
            <a:r>
              <a:rPr sz="3000" b="1">
                <a:solidFill>
                  <a:srgbClr val="1A1A2E"/>
                </a:solidFill>
                <a:latin typeface="Noto Sans Khmer"/>
              </a:rPr>
              <a:t>ដំណាក់កាលការងារ</a:t>
            </a:r>
          </a:p>
          <a:p>
            <a:r>
              <a:rPr sz="3400" b="1">
                <a:solidFill>
                  <a:srgbClr val="C0212E"/>
                </a:solidFill>
                <a:latin typeface="Helvetica Neue"/>
              </a:rPr>
              <a:t>Milestones · M1 → M7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2084831"/>
            <a:ext cx="1280160" cy="34925"/>
          </a:xfrm>
          <a:prstGeom prst="rect">
            <a:avLst/>
          </a:prstGeom>
          <a:solidFill>
            <a:srgbClr val="C021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2331720"/>
            <a:ext cx="10607040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700" b="1">
                <a:solidFill>
                  <a:srgbClr val="0F6B5F"/>
                </a:solidFill>
                <a:latin typeface="Helvetica Neue"/>
              </a:rPr>
              <a:t>M1  </a:t>
            </a:r>
            <a:r>
              <a:rPr sz="1500" b="0">
                <a:solidFill>
                  <a:srgbClr val="5A5A6E"/>
                </a:solidFill>
                <a:latin typeface="Helvetica Neue"/>
              </a:rPr>
              <a:t>W3-4      </a:t>
            </a:r>
            <a:r>
              <a:rPr sz="1500" b="0">
                <a:solidFill>
                  <a:srgbClr val="1A1A2E"/>
                </a:solidFill>
                <a:latin typeface="Helvetica Neue"/>
              </a:rPr>
              <a:t>PRD + wireframes, DB schema/ERD, API spec, repo + Docker skeleton</a:t>
            </a:r>
          </a:p>
          <a:p>
            <a:pPr>
              <a:spcAft>
                <a:spcPts val="900"/>
              </a:spcAft>
            </a:pPr>
            <a:r>
              <a:rPr sz="1700" b="1">
                <a:solidFill>
                  <a:srgbClr val="0F6B5F"/>
                </a:solidFill>
                <a:latin typeface="Helvetica Neue"/>
              </a:rPr>
              <a:t>M2  </a:t>
            </a:r>
            <a:r>
              <a:rPr sz="1500" b="0">
                <a:solidFill>
                  <a:srgbClr val="5A5A6E"/>
                </a:solidFill>
                <a:latin typeface="Helvetica Neue"/>
              </a:rPr>
              <a:t>W5-6      </a:t>
            </a:r>
            <a:r>
              <a:rPr sz="1500" b="0">
                <a:solidFill>
                  <a:srgbClr val="1A1A2E"/>
                </a:solidFill>
                <a:latin typeface="Helvetica Neue"/>
              </a:rPr>
              <a:t>Spring Boot init (PostgreSQL, Flyway), Flutter + Next.js init, docker-compose up runs backend…</a:t>
            </a:r>
          </a:p>
          <a:p>
            <a:pPr>
              <a:spcAft>
                <a:spcPts val="900"/>
              </a:spcAft>
            </a:pPr>
            <a:r>
              <a:rPr sz="1700" b="1">
                <a:solidFill>
                  <a:srgbClr val="0F6B5F"/>
                </a:solidFill>
                <a:latin typeface="Helvetica Neue"/>
              </a:rPr>
              <a:t>M3  </a:t>
            </a:r>
            <a:r>
              <a:rPr sz="1500" b="0">
                <a:solidFill>
                  <a:srgbClr val="5A5A6E"/>
                </a:solidFill>
                <a:latin typeface="Helvetica Neue"/>
              </a:rPr>
              <a:t>W7-8      </a:t>
            </a:r>
            <a:r>
              <a:rPr sz="1500" b="0">
                <a:solidFill>
                  <a:srgbClr val="1A1A2E"/>
                </a:solidFill>
                <a:latin typeface="Helvetica Neue"/>
              </a:rPr>
              <a:t>Auth (phone/OTP) + donor register incl. FCM token registration: API, Flutter screen, web port…</a:t>
            </a:r>
          </a:p>
          <a:p>
            <a:pPr>
              <a:spcAft>
                <a:spcPts val="900"/>
              </a:spcAft>
            </a:pPr>
            <a:r>
              <a:rPr sz="1700" b="1">
                <a:solidFill>
                  <a:srgbClr val="0F6B5F"/>
                </a:solidFill>
                <a:latin typeface="Helvetica Neue"/>
              </a:rPr>
              <a:t>M4  </a:t>
            </a:r>
            <a:r>
              <a:rPr sz="1500" b="0">
                <a:solidFill>
                  <a:srgbClr val="5A5A6E"/>
                </a:solidFill>
                <a:latin typeface="Helvetica Neue"/>
              </a:rPr>
              <a:t>W9-10     </a:t>
            </a:r>
            <a:r>
              <a:rPr sz="1500" b="0">
                <a:solidFill>
                  <a:srgbClr val="1A1A2E"/>
                </a:solidFill>
                <a:latin typeface="Helvetica Neue"/>
              </a:rPr>
              <a:t>Urgent request create + matching by blood type/distance + 56-day eligibility computation + FC…</a:t>
            </a:r>
          </a:p>
          <a:p>
            <a:pPr>
              <a:spcAft>
                <a:spcPts val="900"/>
              </a:spcAft>
            </a:pPr>
            <a:r>
              <a:rPr sz="1700" b="1">
                <a:solidFill>
                  <a:srgbClr val="0F6B5F"/>
                </a:solidFill>
                <a:latin typeface="Helvetica Neue"/>
              </a:rPr>
              <a:t>M5  </a:t>
            </a:r>
            <a:r>
              <a:rPr sz="1500" b="0">
                <a:solidFill>
                  <a:srgbClr val="5A5A6E"/>
                </a:solidFill>
                <a:latin typeface="Helvetica Neue"/>
              </a:rPr>
              <a:t>W11-12    </a:t>
            </a:r>
            <a:r>
              <a:rPr sz="1500" b="0">
                <a:solidFill>
                  <a:srgbClr val="1A1A2E"/>
                </a:solidFill>
                <a:latin typeface="Helvetica Neue"/>
              </a:rPr>
              <a:t>Donation history + donor eligibility status + eligibility reminder push (feature 3)</a:t>
            </a:r>
          </a:p>
          <a:p>
            <a:pPr>
              <a:spcAft>
                <a:spcPts val="900"/>
              </a:spcAft>
            </a:pPr>
            <a:r>
              <a:rPr sz="1700" b="1">
                <a:solidFill>
                  <a:srgbClr val="0F6B5F"/>
                </a:solidFill>
                <a:latin typeface="Helvetica Neue"/>
              </a:rPr>
              <a:t>M6  </a:t>
            </a:r>
            <a:r>
              <a:rPr sz="1500" b="0">
                <a:solidFill>
                  <a:srgbClr val="5A5A6E"/>
                </a:solidFill>
                <a:latin typeface="Helvetica Neue"/>
              </a:rPr>
              <a:t>W13       </a:t>
            </a:r>
            <a:r>
              <a:rPr sz="1500" b="0">
                <a:solidFill>
                  <a:srgbClr val="1A1A2E"/>
                </a:solidFill>
                <a:latin typeface="Helvetica Neue"/>
              </a:rPr>
              <a:t>GPS/maps in Flutter, Khmer/English i18n, web portal polish, Android build</a:t>
            </a:r>
          </a:p>
          <a:p>
            <a:pPr>
              <a:spcAft>
                <a:spcPts val="900"/>
              </a:spcAft>
            </a:pPr>
            <a:r>
              <a:rPr sz="1700" b="1">
                <a:solidFill>
                  <a:srgbClr val="C0212E"/>
                </a:solidFill>
                <a:latin typeface="Helvetica Neue"/>
              </a:rPr>
              <a:t>M7  </a:t>
            </a:r>
            <a:r>
              <a:rPr sz="1500" b="0">
                <a:solidFill>
                  <a:srgbClr val="5A5A6E"/>
                </a:solidFill>
                <a:latin typeface="Helvetica Neue"/>
              </a:rPr>
              <a:t>W14-15    </a:t>
            </a:r>
            <a:r>
              <a:rPr sz="1500" b="1">
                <a:solidFill>
                  <a:srgbClr val="1A1A2E"/>
                </a:solidFill>
                <a:latin typeface="Helvetica Neue"/>
              </a:rPr>
              <a:t>Test pass, signed AAB, Flutter app published to Play Store internal testing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6263640"/>
            <a:ext cx="10607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5A5A6E"/>
                </a:solidFill>
                <a:latin typeface="Helvetica Neue"/>
              </a:rPr>
              <a:t>Parsed from CLAUDE.md section 4 — the single source for milestone dates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11480"/>
            <a:ext cx="1069848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>
                <a:solidFill>
                  <a:srgbClr val="0F6B5F"/>
                </a:solidFill>
                <a:latin typeface="Helvetica Neue"/>
              </a:rPr>
              <a:t>WHEN</a:t>
            </a:r>
          </a:p>
          <a:p>
            <a:r>
              <a:rPr sz="3000" b="1">
                <a:solidFill>
                  <a:srgbClr val="1A1A2E"/>
                </a:solidFill>
                <a:latin typeface="Noto Sans Khmer"/>
              </a:rPr>
              <a:t>ស្ថានភាពបច្ចុប្បន្ន</a:t>
            </a:r>
          </a:p>
          <a:p>
            <a:r>
              <a:rPr sz="3400" b="1">
                <a:solidFill>
                  <a:srgbClr val="C0212E"/>
                </a:solidFill>
                <a:latin typeface="Helvetica Neue"/>
              </a:rPr>
              <a:t>Where We Are Today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2084831"/>
            <a:ext cx="1280160" cy="34925"/>
          </a:xfrm>
          <a:prstGeom prst="rect">
            <a:avLst/>
          </a:prstGeom>
          <a:solidFill>
            <a:srgbClr val="C021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2468880"/>
            <a:ext cx="105156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1900" b="1">
                <a:solidFill>
                  <a:srgbClr val="C0212E"/>
                </a:solidFill>
                <a:latin typeface="Helvetica Neue"/>
              </a:rPr>
              <a:t>▪  </a:t>
            </a:r>
            <a:r>
              <a:rPr sz="1900" b="0">
                <a:solidFill>
                  <a:srgbClr val="1A1A2E"/>
                </a:solidFill>
                <a:latin typeface="Helvetica Neue"/>
              </a:rPr>
              <a:t>M1 complete — PRD, feature registry, schema design, API contract skeleton</a:t>
            </a:r>
          </a:p>
          <a:p>
            <a:pPr>
              <a:spcAft>
                <a:spcPts val="1400"/>
              </a:spcAft>
            </a:pPr>
            <a:r>
              <a:rPr sz="1900" b="1">
                <a:solidFill>
                  <a:srgbClr val="C0212E"/>
                </a:solidFill>
                <a:latin typeface="Helvetica Neue"/>
              </a:rPr>
              <a:t>▪  </a:t>
            </a:r>
            <a:r>
              <a:rPr sz="1900" b="0">
                <a:solidFill>
                  <a:srgbClr val="1A1A2E"/>
                </a:solidFill>
                <a:latin typeface="Helvetica Neue"/>
              </a:rPr>
              <a:t>M2 specified in four layer specs, each with a pass/fail checklist</a:t>
            </a:r>
          </a:p>
          <a:p>
            <a:pPr>
              <a:spcAft>
                <a:spcPts val="1400"/>
              </a:spcAft>
            </a:pPr>
            <a:r>
              <a:rPr sz="1900" b="1">
                <a:solidFill>
                  <a:srgbClr val="C0212E"/>
                </a:solidFill>
                <a:latin typeface="Helvetica Neue"/>
              </a:rPr>
              <a:t>▪  </a:t>
            </a:r>
            <a:r>
              <a:rPr sz="1900" b="0">
                <a:solidFill>
                  <a:srgbClr val="1A1A2E"/>
                </a:solidFill>
                <a:latin typeface="Helvetica Neue"/>
              </a:rPr>
              <a:t>Not yet built — the three code directories are still empty</a:t>
            </a:r>
          </a:p>
          <a:p>
            <a:pPr>
              <a:spcAft>
                <a:spcPts val="1400"/>
              </a:spcAft>
            </a:pPr>
            <a:r>
              <a:rPr sz="1900" b="1">
                <a:solidFill>
                  <a:srgbClr val="C0212E"/>
                </a:solidFill>
                <a:latin typeface="Helvetica Neue"/>
              </a:rPr>
              <a:t>▪  </a:t>
            </a:r>
            <a:r>
              <a:rPr sz="1900" b="0">
                <a:solidFill>
                  <a:srgbClr val="1A1A2E"/>
                </a:solidFill>
                <a:latin typeface="Helvetica Neue"/>
              </a:rPr>
              <a:t>Blocking M2: one API endpoint must reach the shared contract</a:t>
            </a:r>
          </a:p>
          <a:p>
            <a:pPr>
              <a:spcAft>
                <a:spcPts val="1400"/>
              </a:spcAft>
            </a:pPr>
            <a:r>
              <a:rPr sz="1900" b="1">
                <a:solidFill>
                  <a:srgbClr val="C0212E"/>
                </a:solidFill>
                <a:latin typeface="Helvetica Neue"/>
              </a:rPr>
              <a:t>▪  </a:t>
            </a:r>
            <a:r>
              <a:rPr sz="1900" b="0">
                <a:solidFill>
                  <a:srgbClr val="1A1A2E"/>
                </a:solidFill>
                <a:latin typeface="Helvetica Neue"/>
              </a:rPr>
              <a:t>Next: resolve three product decisions that gate M4 matching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6263640"/>
            <a:ext cx="10607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5A5A6E"/>
                </a:solidFill>
                <a:latin typeface="Helvetica Neue"/>
              </a:rPr>
              <a:t>LifeLink KH · Track B team product · Week 2 of 16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11480"/>
            <a:ext cx="1069848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>
                <a:solidFill>
                  <a:srgbClr val="0F6B5F"/>
                </a:solidFill>
                <a:latin typeface="Helvetica Neue"/>
              </a:rPr>
              <a:t>MEASURE</a:t>
            </a:r>
          </a:p>
          <a:p>
            <a:r>
              <a:rPr sz="3000" b="1">
                <a:solidFill>
                  <a:srgbClr val="1A1A2E"/>
                </a:solidFill>
                <a:latin typeface="Noto Sans Khmer"/>
              </a:rPr>
              <a:t>សូចនាករជោគជ័យ</a:t>
            </a:r>
          </a:p>
          <a:p>
            <a:r>
              <a:rPr sz="3400" b="1">
                <a:solidFill>
                  <a:srgbClr val="C0212E"/>
                </a:solidFill>
                <a:latin typeface="Helvetica Neue"/>
              </a:rPr>
              <a:t>Success Metrics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2084831"/>
            <a:ext cx="1280160" cy="34925"/>
          </a:xfrm>
          <a:prstGeom prst="rect">
            <a:avLst/>
          </a:prstGeom>
          <a:solidFill>
            <a:srgbClr val="C021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2468880"/>
            <a:ext cx="105156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1900" b="1">
                <a:solidFill>
                  <a:srgbClr val="C0212E"/>
                </a:solidFill>
                <a:latin typeface="Helvetica Neue"/>
              </a:rPr>
              <a:t>▪  </a:t>
            </a:r>
            <a:r>
              <a:rPr sz="1900" b="0">
                <a:solidFill>
                  <a:srgbClr val="1A1A2E"/>
                </a:solidFill>
                <a:latin typeface="Helvetica Neue"/>
              </a:rPr>
              <a:t>≥ 200 registered donors in Phnom Penh in the first pilot month</a:t>
            </a:r>
          </a:p>
          <a:p>
            <a:pPr>
              <a:spcAft>
                <a:spcPts val="1400"/>
              </a:spcAft>
            </a:pPr>
            <a:r>
              <a:rPr sz="1900" b="1">
                <a:solidFill>
                  <a:srgbClr val="C0212E"/>
                </a:solidFill>
                <a:latin typeface="Helvetica Neue"/>
              </a:rPr>
              <a:t>▪  </a:t>
            </a:r>
            <a:r>
              <a:rPr sz="1900" b="0">
                <a:solidFill>
                  <a:srgbClr val="1A1A2E"/>
                </a:solidFill>
                <a:latin typeface="Helvetica Neue"/>
              </a:rPr>
              <a:t>≥ 70% of urgent requests get an acceptance within 60 minutes</a:t>
            </a:r>
          </a:p>
          <a:p>
            <a:pPr>
              <a:spcAft>
                <a:spcPts val="1400"/>
              </a:spcAft>
            </a:pPr>
            <a:r>
              <a:rPr sz="1900" b="1">
                <a:solidFill>
                  <a:srgbClr val="C0212E"/>
                </a:solidFill>
                <a:latin typeface="Helvetica Neue"/>
              </a:rPr>
              <a:t>▪  </a:t>
            </a:r>
            <a:r>
              <a:rPr sz="1900" b="0">
                <a:solidFill>
                  <a:srgbClr val="1A1A2E"/>
                </a:solidFill>
                <a:latin typeface="Helvetica Neue"/>
              </a:rPr>
              <a:t>Median time from request to first acceptance under 30 minutes</a:t>
            </a:r>
          </a:p>
          <a:p>
            <a:pPr>
              <a:spcAft>
                <a:spcPts val="1400"/>
              </a:spcAft>
            </a:pPr>
            <a:r>
              <a:rPr sz="1900" b="1">
                <a:solidFill>
                  <a:srgbClr val="C0212E"/>
                </a:solidFill>
                <a:latin typeface="Helvetica Neue"/>
              </a:rPr>
              <a:t>▪  </a:t>
            </a:r>
            <a:r>
              <a:rPr sz="1900" b="0">
                <a:solidFill>
                  <a:srgbClr val="1A1A2E"/>
                </a:solidFill>
                <a:latin typeface="Helvetica Neue"/>
              </a:rPr>
              <a:t>≥ 50 completed, hospital-verified donations during the pilot semester</a:t>
            </a:r>
          </a:p>
          <a:p>
            <a:pPr>
              <a:spcAft>
                <a:spcPts val="1400"/>
              </a:spcAft>
            </a:pPr>
            <a:r>
              <a:rPr sz="1900" b="1">
                <a:solidFill>
                  <a:srgbClr val="C0212E"/>
                </a:solidFill>
                <a:latin typeface="Helvetica Neue"/>
              </a:rPr>
              <a:t>▪  </a:t>
            </a:r>
            <a:r>
              <a:rPr sz="1900" b="0">
                <a:solidFill>
                  <a:srgbClr val="1A1A2E"/>
                </a:solidFill>
                <a:latin typeface="Helvetica Neue"/>
              </a:rPr>
              <a:t>Push notification delivery rate ≥ 95%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6263640"/>
            <a:ext cx="10607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5A5A6E"/>
                </a:solidFill>
                <a:latin typeface="Helvetica Neue"/>
              </a:rPr>
              <a:t>LifeLink KH · Track B team product · Week 2 of 16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11480"/>
            <a:ext cx="1069848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>
                <a:solidFill>
                  <a:srgbClr val="0F6B5F"/>
                </a:solidFill>
                <a:latin typeface="Helvetica Neue"/>
              </a:rPr>
              <a:t>HONEST</a:t>
            </a:r>
          </a:p>
          <a:p>
            <a:r>
              <a:rPr sz="3000" b="1">
                <a:solidFill>
                  <a:srgbClr val="1A1A2E"/>
                </a:solidFill>
                <a:latin typeface="Noto Sans Khmer"/>
              </a:rPr>
              <a:t>ហានិភ័យ និងការសម្រេចចិត្ត</a:t>
            </a:r>
          </a:p>
          <a:p>
            <a:r>
              <a:rPr sz="3400" b="1">
                <a:solidFill>
                  <a:srgbClr val="C0212E"/>
                </a:solidFill>
                <a:latin typeface="Helvetica Neue"/>
              </a:rPr>
              <a:t>Risks + Open Decisions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2084831"/>
            <a:ext cx="1280160" cy="34925"/>
          </a:xfrm>
          <a:prstGeom prst="rect">
            <a:avLst/>
          </a:prstGeom>
          <a:solidFill>
            <a:srgbClr val="C021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2468880"/>
            <a:ext cx="105156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1900" b="1">
                <a:solidFill>
                  <a:srgbClr val="C0212E"/>
                </a:solidFill>
                <a:latin typeface="Helvetica Neue"/>
              </a:rPr>
              <a:t>▪  </a:t>
            </a:r>
            <a:r>
              <a:rPr sz="1900" b="0">
                <a:solidFill>
                  <a:srgbClr val="1A1A2E"/>
                </a:solidFill>
                <a:latin typeface="Helvetica Neue"/>
              </a:rPr>
              <a:t>7 product decisions still open — 3 of them gate M4 matching</a:t>
            </a:r>
          </a:p>
          <a:p>
            <a:pPr>
              <a:spcAft>
                <a:spcPts val="1400"/>
              </a:spcAft>
            </a:pPr>
            <a:r>
              <a:rPr sz="1900" b="1">
                <a:solidFill>
                  <a:srgbClr val="C0212E"/>
                </a:solidFill>
                <a:latin typeface="Helvetica Neue"/>
              </a:rPr>
              <a:t>▪  </a:t>
            </a:r>
            <a:r>
              <a:rPr sz="1900" b="0">
                <a:solidFill>
                  <a:srgbClr val="1A1A2E"/>
                </a:solidFill>
                <a:latin typeface="Helvetica Neue"/>
              </a:rPr>
              <a:t>Donor location precision undecided: privacy versus matching accuracy</a:t>
            </a:r>
          </a:p>
          <a:p>
            <a:pPr>
              <a:spcAft>
                <a:spcPts val="1400"/>
              </a:spcAft>
            </a:pPr>
            <a:r>
              <a:rPr sz="1900" b="1">
                <a:solidFill>
                  <a:srgbClr val="C0212E"/>
                </a:solidFill>
                <a:latin typeface="Helvetica Neue"/>
              </a:rPr>
              <a:t>▪  </a:t>
            </a:r>
            <a:r>
              <a:rPr sz="1900" b="0">
                <a:solidFill>
                  <a:srgbClr val="1A1A2E"/>
                </a:solidFill>
                <a:latin typeface="Helvetica Neue"/>
              </a:rPr>
              <a:t>M4 is now our heaviest milestone; cut order agreed in advance</a:t>
            </a:r>
          </a:p>
          <a:p>
            <a:pPr>
              <a:spcAft>
                <a:spcPts val="1400"/>
              </a:spcAft>
            </a:pPr>
            <a:r>
              <a:rPr sz="1900" b="1">
                <a:solidFill>
                  <a:srgbClr val="C0212E"/>
                </a:solidFill>
                <a:latin typeface="Helvetica Neue"/>
              </a:rPr>
              <a:t>▪  </a:t>
            </a:r>
            <a:r>
              <a:rPr sz="1900" b="0">
                <a:solidFill>
                  <a:srgbClr val="1A1A2E"/>
                </a:solidFill>
                <a:latin typeface="Helvetica Neue"/>
              </a:rPr>
              <a:t>Low donor density early — mitigated by campus and NGO drives</a:t>
            </a:r>
          </a:p>
          <a:p>
            <a:pPr>
              <a:spcAft>
                <a:spcPts val="1400"/>
              </a:spcAft>
            </a:pPr>
            <a:r>
              <a:rPr sz="1900" b="1">
                <a:solidFill>
                  <a:srgbClr val="C0212E"/>
                </a:solidFill>
                <a:latin typeface="Helvetica Neue"/>
              </a:rPr>
              <a:t>▪  </a:t>
            </a:r>
            <a:r>
              <a:rPr sz="1900" b="0">
                <a:solidFill>
                  <a:srgbClr val="1A1A2E"/>
                </a:solidFill>
                <a:latin typeface="Helvetica Neue"/>
              </a:rPr>
              <a:t>SMS OTP cost and deliverability — fallback provider identified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6263640"/>
            <a:ext cx="10607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5A5A6E"/>
                </a:solidFill>
                <a:latin typeface="Helvetica Neue"/>
              </a:rPr>
              <a:t>LifeLink KH · Track B team product · Week 2 of 16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11480"/>
            <a:ext cx="1069848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>
                <a:solidFill>
                  <a:srgbClr val="0F6B5F"/>
                </a:solidFill>
                <a:latin typeface="Helvetica Neue"/>
              </a:rPr>
              <a:t>WHO BUILDS IT</a:t>
            </a:r>
          </a:p>
          <a:p>
            <a:r>
              <a:rPr sz="3000" b="1">
                <a:solidFill>
                  <a:srgbClr val="1A1A2E"/>
                </a:solidFill>
                <a:latin typeface="Noto Sans Khmer"/>
              </a:rPr>
              <a:t>ក្រុមការងារ</a:t>
            </a:r>
          </a:p>
          <a:p>
            <a:r>
              <a:rPr sz="3400" b="1">
                <a:solidFill>
                  <a:srgbClr val="C0212E"/>
                </a:solidFill>
                <a:latin typeface="Helvetica Neue"/>
              </a:rPr>
              <a:t>Team + One Open Question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2084831"/>
            <a:ext cx="1280160" cy="34925"/>
          </a:xfrm>
          <a:prstGeom prst="rect">
            <a:avLst/>
          </a:prstGeom>
          <a:solidFill>
            <a:srgbClr val="C021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2377440"/>
            <a:ext cx="1051560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900" b="1">
                <a:solidFill>
                  <a:srgbClr val="1A1A2E"/>
                </a:solidFill>
                <a:latin typeface="Helvetica Neue"/>
              </a:rPr>
              <a:t>Nem Sothea   </a:t>
            </a:r>
            <a:r>
              <a:rPr sz="1500" b="0">
                <a:solidFill>
                  <a:srgbClr val="5A5A6E"/>
                </a:solidFill>
                <a:latin typeface="Helvetica Neue"/>
              </a:rPr>
              <a:t>Tech Lead · Flutter · also PO, PM, Security</a:t>
            </a:r>
          </a:p>
          <a:p>
            <a:pPr>
              <a:spcAft>
                <a:spcPts val="1000"/>
              </a:spcAft>
            </a:pPr>
            <a:r>
              <a:rPr sz="1900" b="1">
                <a:solidFill>
                  <a:srgbClr val="1A1A2E"/>
                </a:solidFill>
                <a:latin typeface="Helvetica Neue"/>
              </a:rPr>
              <a:t>Suon Pisey   </a:t>
            </a:r>
            <a:r>
              <a:rPr sz="1500" b="0">
                <a:solidFill>
                  <a:srgbClr val="5A5A6E"/>
                </a:solidFill>
                <a:latin typeface="Helvetica Neue"/>
              </a:rPr>
              <a:t>Backend · PostgreSQL · Flyway · matching logic</a:t>
            </a:r>
          </a:p>
          <a:p>
            <a:pPr>
              <a:spcAft>
                <a:spcPts val="1000"/>
              </a:spcAft>
            </a:pPr>
            <a:r>
              <a:rPr sz="1900" b="1">
                <a:solidFill>
                  <a:srgbClr val="1A1A2E"/>
                </a:solidFill>
                <a:latin typeface="Helvetica Neue"/>
              </a:rPr>
              <a:t>Sourn SAVOURN   </a:t>
            </a:r>
            <a:r>
              <a:rPr sz="1500" b="0">
                <a:solidFill>
                  <a:srgbClr val="5A5A6E"/>
                </a:solidFill>
                <a:latin typeface="Helvetica Neue"/>
              </a:rPr>
              <a:t>Frontend · Next.js portal · API client · i18n</a:t>
            </a:r>
          </a:p>
          <a:p>
            <a:pPr>
              <a:spcAft>
                <a:spcPts val="1000"/>
              </a:spcAft>
            </a:pPr>
            <a:r>
              <a:rPr sz="1900" b="1">
                <a:solidFill>
                  <a:srgbClr val="1A1A2E"/>
                </a:solidFill>
                <a:latin typeface="Helvetica Neue"/>
              </a:rPr>
              <a:t>Moeun Nithvaraman   </a:t>
            </a:r>
            <a:r>
              <a:rPr sz="1500" b="0">
                <a:solidFill>
                  <a:srgbClr val="5A5A6E"/>
                </a:solidFill>
                <a:latin typeface="Helvetica Neue"/>
              </a:rPr>
              <a:t>DevOps · Docker · CI · release pipeline</a:t>
            </a:r>
          </a:p>
          <a:p>
            <a:pPr>
              <a:spcAft>
                <a:spcPts val="1000"/>
              </a:spcAft>
            </a:pPr>
            <a:r>
              <a:rPr sz="1900" b="1">
                <a:solidFill>
                  <a:srgbClr val="1A1A2E"/>
                </a:solidFill>
                <a:latin typeface="Helvetica Neue"/>
              </a:rPr>
              <a:t>Oun Sreynich   </a:t>
            </a:r>
            <a:r>
              <a:rPr sz="1500" b="0">
                <a:solidFill>
                  <a:srgbClr val="5A5A6E"/>
                </a:solidFill>
                <a:latin typeface="Helvetica Neue"/>
              </a:rPr>
              <a:t>QA · test plan · milestone acceptance · bug tracking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5257800"/>
            <a:ext cx="10607040" cy="777240"/>
          </a:xfrm>
          <a:prstGeom prst="rect">
            <a:avLst/>
          </a:prstGeom>
          <a:solidFill>
            <a:srgbClr val="0F6B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700" b="1">
                <a:solidFill>
                  <a:srgbClr val="FFFFFF"/>
                </a:solidFill>
                <a:latin typeface="Helvetica Neue"/>
              </a:rPr>
              <a:t>Open question for the instructor: the assignment specifies teams of 3 — we are 5. How should we proceed?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6263640"/>
            <a:ext cx="10607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5A5A6E"/>
                </a:solidFill>
                <a:latin typeface="Helvetica Neue"/>
              </a:rPr>
              <a:t>LifeLink KH · Track B team product · Week 2 of 16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