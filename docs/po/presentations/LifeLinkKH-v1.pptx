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embeddedFontLst>
    <p:embeddedFont>
      <p:font typeface="Helvetica Neue"/>
      <p:regular r:id="rId18"/>
      <p:bold r:id="rId19"/>
      <p:italic r:id="rId20"/>
      <p:boldItalic r:id="rId21"/>
    </p:embeddedFont>
    <p:embeddedFont>
      <p:font typeface="Noto Sans Khme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jZ2WMJwKitzcWr5KPKqAlL6hEP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-italic.fntdata"/><Relationship Id="rId11" Type="http://schemas.openxmlformats.org/officeDocument/2006/relationships/slide" Target="slides/slide6.xml"/><Relationship Id="rId22" Type="http://schemas.openxmlformats.org/officeDocument/2006/relationships/font" Target="fonts/NotoSansKhmer-regular.fntdata"/><Relationship Id="rId10" Type="http://schemas.openxmlformats.org/officeDocument/2006/relationships/slide" Target="slides/slide5.xml"/><Relationship Id="rId21" Type="http://schemas.openxmlformats.org/officeDocument/2006/relationships/font" Target="fonts/HelveticaNeue-boldItalic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NotoSansKhm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HelveticaNeue-bold.fntdata"/><Relationship Id="rId6" Type="http://schemas.openxmlformats.org/officeDocument/2006/relationships/slide" Target="slides/slide1.xml"/><Relationship Id="rId18" Type="http://schemas.openxmlformats.org/officeDocument/2006/relationships/font" Target="fonts/HelveticaNeue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 with the problem, not the product. One line: "Right now, when a Cambodian hospital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needs blood urgently, someone writes a Facebook post and hopes the right person scrolls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past." Then move on — slide 2 does the work.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read the team list aloud; it is on the slide and slide 12 covers roles.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slide that earns attention. Stay concrete and do not inflate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Say: the current process is not a bad app, it is no app. It is a social media post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hope. Reach without targeting is not reach — most people who see the post have the wrong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blood type or are in the wrong city, and the people who could actually help never see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for national statistics: we have not sourced verified figures yet, and we would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rather present none than present numbers we cannot cite. The problem statement comes from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hospitals currently operate, which is observable without a statistic.</a:t>
            </a:r>
            <a:endParaRPr/>
          </a:p>
        </p:txBody>
      </p:sp>
      <p:sp>
        <p:nvSpPr>
          <p:cNvPr id="90" name="Google Shape;9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assignment asks for a target user. Ours is the Donor — everything else exists to serve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that person's decision to help.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Emphasise the split: donors and families are on the phone because emergencies happen away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from a desk. Hospital staff are on the web because they work at a desk with a browser.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split is why the project has two clients, which slide 6 explains.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four roles come from the PRD, section 3. Do not invent a fifth on the spot.</a:t>
            </a:r>
            <a:endParaRPr/>
          </a:p>
        </p:txBody>
      </p:sp>
      <p:sp>
        <p:nvSpPr>
          <p:cNvPr id="99" name="Google Shape;9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Exactly three features, as the assignment requires. Say the numbers out loud — "one, two,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three" — so the grader can tick them off.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fourth bullet is worth pausing on: O-negative can help almost anyone, AB-positive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receive from anyone. Matching on exact type alone would throw away most of the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supply. That detail signals we understood the domain rather than guessing at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what is NOT in version 1: in-app chat, rewards or gamification, hospital blood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inventory, iOS, and automated medical verification. All are recorded as out of scope in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PRD, section 2.2 — deliberately excluded, not forgotten.</a:t>
            </a:r>
            <a:endParaRPr/>
          </a:p>
        </p:txBody>
      </p:sp>
      <p:sp>
        <p:nvSpPr>
          <p:cNvPr id="108" name="Google Shape;10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a graded requirement — one sentence, defended. Deliver the sentence in bold on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verbatim, then stop. Do not elaborate unless asked.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"Couldn't a progressive web app do push notifications?"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Partly, and that is the honest answer. Web push exists, but it is unreliable on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devices our donors actually use, it cannot read GPS in the background, and it cannot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distributed through the Play Store — which is this course's M7 requirement. We also need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 installed and present on the home screen, because a donor who has to remember a URL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during an emergency will not use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"Then why build a web portal at all?"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Different user, different context. Hospital staff work at a desk and need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confirm donations; that is a browser job. The mobile app is for the people who are moving.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API, two clients. Say that first; the diagram then reads itself.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decision here is Flutter rather than a hybrid wrapper. Flutter builds a native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Android binary, which is what the Play Store requirement at M7 actually needs. We considered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wrapping the Next.js app in Capacitor and rejected it — that is recorded in ADR 0001.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Flyway matters more than it looks: the database schema is versioned migrations,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hand-edited tables, so every environment gets the same schema in the same order.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why not one codebase for everything: the two clients serve different users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different contexts, and they map cleanly onto team roles.</a:t>
            </a:r>
            <a:endParaRPr/>
          </a:p>
        </p:txBody>
      </p:sp>
      <p:sp>
        <p:nvSpPr>
          <p:cNvPr id="127" name="Google Shape;12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answers a question the audience has not asked yet: is this a plan or a wish?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Two things to say here, in this order.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First, we read our own PRD adversarially and found seven promises it made in prose but never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turned into requirements — for example, it said users may request deletion of their data,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feature provided it. That is how the registry got to 19.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Second, we then cut it to 8. Nineteen features across thirteen part-time weeks does not fit,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and a plan that does not fit produces eight half-finished features instead of eight working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ones. So we cut against the five things the course grades — authentication, push, GPS,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relational database, a Play Store release — not against what we personally found interesting.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"Why isn't feature X in your app?"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It probably is in docs/scope.md, with the reason. Name one deliberately: account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deletion is deferred, and we flag it as a privacy obligation rather than a feature —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is only acceptable because the pilot runs on our own test accounts, and it comes back first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 real donor ever uses this.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how we track work: features have stable IDs, so a bug, a test case and a commit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all point at the same identifier. QA signs off against acceptance criteria, not against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spend more than a minute here. It is a credibility slide, not the substance.</a:t>
            </a:r>
            <a:endParaRPr/>
          </a:p>
        </p:txBody>
      </p:sp>
      <p:sp>
        <p:nvSpPr>
          <p:cNvPr id="137" name="Google Shape;13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read all seven aloud. Name three: M2 is the stack running under Docker, M4 is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 matching feature end to end, M7 is published to Play Store internal testing by Week 15.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M7 is the assignment's hard requirement, so say the words "internal testing" explicitly.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table is generated from our planning document, not retyped — which is why it cannot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disagree with the plan. We changed three milestone rows this week when we found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matching was scheduled before the eligibility check it depends on. Slide 11 covers that.</a:t>
            </a:r>
            <a:endParaRPr/>
          </a:p>
        </p:txBody>
      </p:sp>
      <p:sp>
        <p:nvSpPr>
          <p:cNvPr id="146" name="Google Shape;146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 straight about this. We have documentation and specifications, not running code. Week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of 16 is the right time to have exactly that.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the M2 specs contain: the Flutter project structure and state-management choice,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Spring Boot package layout and the initial database migration covering all six entities,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Next.js routing and localization approach, and the Docker Compose service definitions.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Each has a checklist a reviewer can pass or fail without asking us anything.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"Can you show us the app?"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No, and we would rather say so than show a mockup that implies working software.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we can show is the specification the build will be checked against.</a:t>
            </a:r>
            <a:endParaRPr/>
          </a:p>
        </p:txBody>
      </p:sp>
      <p:sp>
        <p:nvSpPr>
          <p:cNvPr id="155" name="Google Shape;155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 numbers, all from the PRD. These are targets we set, not results we have.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important one is the third: median time to first acceptance. It is the number that says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whether we actually beat a Facebook post, and it is the reason the app exists.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 that hospital-verified matters in the fourth metric. A self-reported donation is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evidence; a donation confirmed by hospital staff 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"How will you measure these?"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With SQL COUNT queries against the pilot database at demo time. We originally planned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event-capture instrumentation on every milestone and cut it — for a pilot this size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queries give the same five numbers for none of the build cost. Be honest about the limit: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pilot data is thin, these stay targets rather than results.</a:t>
            </a:r>
            <a:endParaRPr/>
          </a:p>
        </p:txBody>
      </p:sp>
      <p:sp>
        <p:nvSpPr>
          <p:cNvPr id="164" name="Google Shape;16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 Week-2 decks hide what they do not know. This slide is deliberate — it is the one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shows the plan is real.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 location precision: storing exact coordinates gives accurate distance ranking but holds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sensitive personal data; a district centroid is safer but less accurate. It is simultaneously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privacy decision and a product decision, and it changes the database schema, so we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deciding it before we write the migration rather than after.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 M4: we found that matching was scheduled before the eligibility check it depends on,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that push notification was scheduled after the feature that triggers it. We moved both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earlier rather than let a milestone close with its own acceptance criteria unmet. That made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M4 heavy, so we agreed in advance which two features get cut first if it slips.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LIKELY QUESTION: "Isn't it a problem that so much is undecided?"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ANSWER: These are written down with the milestone each one blocks and the date it must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resolved. The alternative is not fewer unknowns — it is the same unknowns, undocumented.</a:t>
            </a:r>
            <a:endParaRPr/>
          </a:p>
        </p:txBody>
      </p:sp>
      <p:sp>
        <p:nvSpPr>
          <p:cNvPr id="173" name="Google Shape;17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End on the question, not on thanks. Ask it directly and then stop talking.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are raising it rather than waiting to be asked, because the answer may change team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composition or how the work is graded, and it is cheaper to know in Week 2 than Week 10.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the answer is "split into teams of 3": our roles already divide along clean boundaries —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each person owns a directory and a document set, so a split is a reassignment, not a rewrite.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who does what day to day: there is no separate DevOps or PM role. Tech Lead absorbed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work — Docker, CI, deploy, release. Definition-of-Done tracking deliberately stayed with QA, because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with Tech Lead also holding Security and co-PO, QA is the only gate outside one person.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know the gap: there is no deploy runbook yet, and it has to exist before the M7 release. Product definition is co-held by Moeun and Sothea, so PRD and FR sign-off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 one person's signature. Tech Lead still holds Security, which concentrates approval there;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QA sign-off is kept independent for exactly that reason.</a:t>
            </a:r>
            <a:endParaRPr/>
          </a:p>
        </p:txBody>
      </p:sp>
      <p:sp>
        <p:nvSpPr>
          <p:cNvPr id="182" name="Google Shape;18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C021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ជីវិត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</a:t>
            </a:r>
            <a:endParaRPr/>
          </a:p>
          <a:p>
            <a:pPr indent="0" lvl="0" marL="0" marR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Blood donor matching for Cambodia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Nem Sothea · Suon Pisey · Sourn SAVOURN · Moeun Nithvaraman · Oun Sreynich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Group 2 · Cross-Platform Mobile App Development · Track B · Week 2 of 16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បញ្ហា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Problem</a:t>
            </a: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Hospitals and the National Blood Transfusion Center rely on Facebook posts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post reaches whoever scrolls past — not compatible donors nearby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 way to filter by blood type, distance, or donor eligibility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 way to know if anyone is coming to help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Blood emergencies are measured in minutes; this process is not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អ្នកប្រើប្រាស់គោលដៅ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Target Users</a:t>
            </a: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Donor — a voluntary blood donor, on the mobile app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Requester — a patient or family member needing blood, mobile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Hospital staff — verifies requests, confirms donations, on web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Administrator — manages users and hospitals, on web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Pilot scope: Phnom Penh first, other provinces later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មុខងារសំខាន់បី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Three Core Features</a:t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 · Donor register — blood type, location, automatic 56-day eligibility check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 · Urgent request broadcast — push to matching donors by type and distance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 · History + reminder — tracks cooldown, alerts donor when eligible again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Matching uses ABO/Rh compatibility, not exact blood type only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Khmer and English on both clients, Khmer as the default</a:t>
            </a:r>
            <a:endParaRPr/>
          </a:p>
        </p:txBody>
      </p:sp>
      <p:sp>
        <p:nvSpPr>
          <p:cNvPr id="113" name="Google Shape;113;p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ហេតុអ្វីត្រូវជាកម្មវិធីទូរស័ព្ទ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Why Mobile, Not a Website</a:t>
            </a: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blood emergency needs an instant, location-aware push alert on a donor's phone — a website can neither push a time-critical notification nor read real-time GPS.</a:t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Push notification — reaches a donor who is not looking at their phone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Real-time GPS — ranks donors by actual distance to the hospital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Installed app — no URL to find while a relative is in a corridor</a:t>
            </a: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HOW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ស្ថាបត្យកម្មប្រព័ន្ធ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Architecture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         Spring Boot API  ──▶  PostgreSQL (Flyway)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             ▲          ▲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REST/HTTPS   │          │   REST/HTTPS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             │          │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Flutter app ─┘          └─ Next.js web portal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(donors / patients)          (hospitals / admin)</a:t>
            </a:r>
            <a:b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        → Play Store</a:t>
            </a:r>
            <a:endParaRPr/>
          </a:p>
        </p:txBody>
      </p:sp>
      <p:sp>
        <p:nvSpPr>
          <p:cNvPr id="132" name="Google Shape;132;p6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Backend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Spring Boot · PostgreSQL · Flyway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Web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Next.js · TypeScript · Tailwind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Mobile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Flutter → native Android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Push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Firebase Cloud Messaging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Location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Google Maps · geolocator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Local dev + CI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Docker Compose · GitHub Actions</a:t>
            </a:r>
            <a:endParaRPr/>
          </a:p>
        </p:txBody>
      </p:sp>
      <p:sp>
        <p:nvSpPr>
          <p:cNvPr id="133" name="Google Shape;133;p6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HOW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ការគ្រប់គ្រងវិសាលភាព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How We Manage Scope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19 features registered — 8 in the build, 8 deliberately deferred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Cut against what the course grades, not what interests us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Definition of Done: spec signed off, merged, QA verified, no open bugs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architecture choice recorded as a decision record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Deferred features keep their documents — that is our future work</a:t>
            </a:r>
            <a:endParaRPr/>
          </a:p>
        </p:txBody>
      </p:sp>
      <p:sp>
        <p:nvSpPr>
          <p:cNvPr id="142" name="Google Shape;142;p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ដំណាក់កាលការងារ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Milestones · M1 → M7</a:t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M1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W3-4  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ERD (done), wireframes for the 4 core screens only, API spec for the 8 core FRs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M2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W5-6  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Spring Boot init (PostgreSQL, Flyway), Flutter + Next.js init, docker-compose up runs backend…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M3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W7-9  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Google Sign-In + donor register + FCM token registration end-to-end (feature 1)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M4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W10-12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Request create + ABO/Rh and distance matching + eligibility computation + request-alert push…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M5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W13   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Donation history list + 56-day eligibility status + the single hospital web page (feature 3)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M6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W14       </a:t>
            </a:r>
            <a:r>
              <a:rPr b="0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GPS via geolocator, Khmer/English i18n, Android build, bug fix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M7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W15       </a:t>
            </a:r>
            <a:r>
              <a:rPr b="1" lang="en-US" sz="15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pass, signed AAB, Flutter app published to Play Store internal testing</a:t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Parsed from CLAUDE.md section 4 — the single source for milestone dates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ស្ថានភាពបច្ចុប្បន្ន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Where We Are Today</a:t>
            </a:r>
            <a:endParaRPr/>
          </a:p>
        </p:txBody>
      </p:sp>
      <p:sp>
        <p:nvSpPr>
          <p:cNvPr id="158" name="Google Shape;158;p9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M1 complete — PRD, feature registry, schema design, API contract skeleton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M2 specified in four layer specs, each with a pass/fail checklist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Not yet built — the three code directories are still empty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Blocking M2: one API endpoint must reach the shared contract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resolve three product decisions that gate M4 matching</a:t>
            </a:r>
            <a:endParaRPr/>
          </a:p>
        </p:txBody>
      </p:sp>
      <p:sp>
        <p:nvSpPr>
          <p:cNvPr id="160" name="Google Shape;160;p9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សូចនាករជោគជ័យ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Success Metrics</a:t>
            </a:r>
            <a:endParaRPr/>
          </a:p>
        </p:txBody>
      </p:sp>
      <p:sp>
        <p:nvSpPr>
          <p:cNvPr id="167" name="Google Shape;167;p10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≥ 200 registered donors in Phnom Penh in the first pilot month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≥ 70% of urgent requests get an acceptance within 60 minutes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Median time from request to first acceptance under 30 minutes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≥ 50 completed, hospital-verified donations during the pilot semester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Push notification delivery rate ≥ 95%</a:t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HONEST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ហានិភ័យ និងការសម្រេចចិត្ត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Risks + Open Decisions</a:t>
            </a:r>
            <a:endParaRPr/>
          </a:p>
        </p:txBody>
      </p:sp>
      <p:sp>
        <p:nvSpPr>
          <p:cNvPr id="176" name="Google Shape;176;p11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Two decisions still open: notified-donor count, deploy runbook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M4 still heaviest — now three weeks, cut order agreed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Low donor density — zero-match fallback deferred, so unmitigated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Auth switched to Google Sign-In — phone numbers now unverified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▪  </a:t>
            </a:r>
            <a:r>
              <a:rPr b="0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 deletion deferred — must ship before any real donor</a:t>
            </a:r>
            <a:endParaRPr/>
          </a:p>
        </p:txBody>
      </p:sp>
      <p:sp>
        <p:nvSpPr>
          <p:cNvPr id="178" name="Google Shape;178;p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7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6B5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BUILDS IT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Noto Sans Khmer"/>
                <a:ea typeface="Noto Sans Khmer"/>
                <a:cs typeface="Noto Sans Khmer"/>
                <a:sym typeface="Noto Sans Khmer"/>
              </a:rPr>
              <a:t>ក្រុមការងារ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C021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Team + One Open Question</a:t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 txBox="1"/>
          <p:nvPr/>
        </p:nvSpPr>
        <p:spPr>
          <a:xfrm>
            <a:off x="822960" y="2377440"/>
            <a:ext cx="10515600" cy="20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Nem Sothea 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Tech Lead · Flutter · also PO, Security · Docker, CI, release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Moeun Nithvaraman </a:t>
            </a: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Backend · PostgreSQL · Flyway · matching logic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Suon Pisey</a:t>
            </a: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Frontend · Next.js portal · API client · i18n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Sourn SAVOURN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 · PRD · briefs · wireframes · feature registry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A1A2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Oun Sreynich   </a:t>
            </a:r>
            <a:r>
              <a:rPr b="0" lang="en-US" sz="15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QA · test plan · milestone acceptance · bug tracking</a:t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Open question for the instructor: the assignment specifies teams of 3 — we are 5. How should we proceed?</a:t>
            </a:r>
            <a:endParaRPr/>
          </a:p>
        </p:txBody>
      </p:sp>
      <p:sp>
        <p:nvSpPr>
          <p:cNvPr id="188" name="Google Shape;188;p12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A5A6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LifeLink KH · Group 2 · Track B · Week 2 of 16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